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ABA65BF1-CCB4-FA43-0CBB-CBC554B0C207}">
          <p14:sldIdLst>
            <p14:sldId id="256"/>
            <p14:sldId id="257"/>
          </p14:sldIdLst>
        </p14:section>
        <p14:section name="Haladás" id="{11A41A45-931D-5545-1742-B47290E637D7}">
          <p14:sldIdLst>
            <p14:sldId id="258"/>
            <p14:sldId id="259"/>
          </p14:sldIdLst>
        </p14:section>
        <p14:section name="Előnézetek" id="{AF21FDF7-EBBD-ACD8-1310-F57AD2DAE993}">
          <p14:sldIdLst>
            <p14:sldId id="260"/>
            <p14:sldId id="261"/>
            <p14:sldId id="262"/>
            <p14:sldId id="263"/>
          </p14:sldIdLst>
        </p14:section>
        <p14:section name="Háttér és terv" id="{1A03312A-3944-474F-1353-A071B538DAAF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16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Sziasztok! A VAWES projektünk haladását mutatjuk be: a Sprint 2-ben megtervezett koncepcióból mára működő weboldal-prototípus lett. Megnézzük, mi készült el, hogyan néz ki a valódi kód, hol tart az adatbázis, és mi következik.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VAWES egy zenei streaming weboldal, ahol a felhasználók zenét találnak, listákat készítenek és kedvenceket mentenek. Két része van: a felhasználói oldal és az admin. A „Spotify killer” egy játékos projektcél: megtartjuk, ami jó a streamingben, és javítjuk, ami zsúfolt vagy nehezen beállítható. A név a „waves” szóból jön, a logó pedig egy üveg V betű, a mélyén a hanghullám ívével.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Röviden a számok: az adatbázis 7 táblából áll, három oldal már működik és kattintható (a lejátszó és lista nézet, a keresés és a könyvtár), a könyvtárban 8 demo lejátszási lista van, és a logó is végleges. A lényeg: a Sprint 2-ben még csak tervek és mockupok voltak, most már valódi HTML, CSS és JavaScript fut.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oszlopban látszik, hol tartunk. Kész: a logó, az adatbázis terv és SQL, a lejátszó és lista oldal, a keresés és a könyvtár. Részben kész: a lejátszó gombjai most még csak vizuálisan váltanak, valódi hang nincs; az adatok a JavaScript kódban vannak, nem az adatbázisból jönnek; és a kinézet egyelőre sötét téma, a liquid glass még nincs átvezetve. Következik: a Felfedezés, az előadó- és albumoldal, a profil és beállítások, az admin felület és az adatbázis-kapcsolat.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lejátszó és lista oldal valódi képernyőképe a kódunkból. Bal oldalt az oldalsáv a három fő oldallal és a lejátszási listákkal. Középen a Chill Waves lista számlistája táblázatban, alul pedig a lejátszósáv: előző, lejátszás, következő gomb és idővonal. A lejátszás gomb most még csak ikont vált, a valódi hanglejátszás a következő lépések része.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keresés egyetlen sáv mindenre. Bal oldalt az alapállapot: lista szerinti böngészés színes csempékkel. Jobb oldalt a „wave” keresés találatai. A szűrés gépelés közben azonnal frissül, ékezetek nélkül is talál, a találatot kiemeli, a chipekkel lista szerint is lehet szűrni, és egy sorra kattintva a szám bekerül a lejátszósávba.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Könyvtár a mentett lejátszási listák helye. Kártyákban látszik minden lista a borítóval, a számok számával és a játékidővel. Fent szűrők vannak: Mind, Saját és VAWES válogatás, mellette rendezés legutóbb hallgatott, név vagy hossz szerint, és külön keresőmező a listák között. Ha nincs találat, érthető üzenetet kap a felhasználó.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egymás mellett látszik, hogy honnan indultunk és hol tartunk. Balra a Sprint 2-es mockup, ahol már az üveg-hatású stílus is látszik, jobbra a működő keresés oldal. A funkciók már élnek, de a kinézet egyelőre sötét és letisztult, a liquid glass hatás még hiányzik. Ennek az átvezetése az egyik legközelebbi feladatunk.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adatbázis 7 táblából áll: users, songs, artists, albums, playlists, playlist_songs és favorites. A users táblában az is_admin mező mutatja, ki admin. A songs tábla tárolja a címet, az előadót, az albumot, a hosszt, a műfajt és a fájl elérési útját. A playlist_songs kapcsolótábla miatt egy dal több listában is szerepelhet, a favorites pedig a kedvenceket tárolja. Az SQL fájl már elkészült, az oldalak még nem ebből dolgoznak.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következő lépések sorrendben: először a liquid glass stílust visszük át a kódba, hogy a végeredmény úgy nézzen ki, mint a koncepcióban. Utána az oldalak az adatbázisból kapják a dalokat, listákat és előadókat. Ezután jönnek az új oldalak: Felfedezés, előadó és album. Végül a profil, a beállítások és az admin felület.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Köszönjük a figyelmet! Szívesen válaszolunk a kérdésekre, és ha kéri, élőben is megmutatjuk a működő oldalakat.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WES Ci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349240" y="210312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WES Tartalom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VAWES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WES Tartalom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VAWES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WES Zar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651760" y="3657600"/>
            <a:ext cx="688543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lap panel"/>
          <p:cNvSpPr/>
          <p:nvPr/>
        </p:nvSpPr>
        <p:spPr>
          <a:xfrm>
            <a:off x="914400" y="868680"/>
            <a:ext cx="10360152" cy="5120640"/>
          </a:xfrm>
          <a:prstGeom prst="roundRect">
            <a:avLst>
              <a:gd name="adj" fmla="val 8036"/>
            </a:avLst>
          </a:prstGeom>
          <a:solidFill>
            <a:schemeClr val="bg1">
              <a:alpha val="13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3" name="Image 0" descr="VAWES V log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0876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HALADÁSI BESZÁMOLÓ  •  2026. OKTÓBER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349240" y="2103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1000" dirty="0">
                <a:solidFill>
                  <a:schemeClr val="bg1"/>
                </a:solidFill>
              </a:rPr>
              <a:t>VAWES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3520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Zenei streaming webalkalmazás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 koncepciótól a működő prototípusig</a:t>
            </a:r>
            <a:endParaRPr lang="en-US" sz="1600" dirty="0"/>
          </a:p>
        </p:txBody>
      </p:sp>
      <p:sp>
        <p:nvSpPr>
          <p:cNvPr id="8" name="Név címke"/>
          <p:cNvSpPr/>
          <p:nvPr/>
        </p:nvSpPr>
        <p:spPr>
          <a:xfrm>
            <a:off x="5394960" y="4572000"/>
            <a:ext cx="17830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 txBox="1"/>
          <p:nvPr/>
        </p:nvSpPr>
        <p:spPr>
          <a:xfrm>
            <a:off x="5394960" y="4572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Hegedűs Marcell</a:t>
            </a:r>
            <a:endParaRPr lang="en-US" sz="1400" dirty="0"/>
          </a:p>
        </p:txBody>
      </p:sp>
      <p:sp>
        <p:nvSpPr>
          <p:cNvPr id="10" name="Név címke"/>
          <p:cNvSpPr/>
          <p:nvPr/>
        </p:nvSpPr>
        <p:spPr>
          <a:xfrm>
            <a:off x="7315200" y="4572000"/>
            <a:ext cx="17830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 txBox="1"/>
          <p:nvPr/>
        </p:nvSpPr>
        <p:spPr>
          <a:xfrm>
            <a:off x="7315200" y="4572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Babák Ádám</a:t>
            </a:r>
            <a:endParaRPr lang="en-US" sz="1400" dirty="0"/>
          </a:p>
        </p:txBody>
      </p:sp>
      <p:sp>
        <p:nvSpPr>
          <p:cNvPr id="12" name="Név címke"/>
          <p:cNvSpPr/>
          <p:nvPr/>
        </p:nvSpPr>
        <p:spPr>
          <a:xfrm>
            <a:off x="9235440" y="4572000"/>
            <a:ext cx="17830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0"/>
          <p:cNvSpPr txBox="1"/>
          <p:nvPr/>
        </p:nvSpPr>
        <p:spPr>
          <a:xfrm>
            <a:off x="9235440" y="4572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Barna Ricsi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5257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Szoftverfejlesztés projekt  |  13/B  |  2026. október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BEVEZETÉS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A projekt dióhéjban</a:t>
            </a:r>
            <a:endParaRPr lang="en-US" sz="3800" dirty="0"/>
          </a:p>
        </p:txBody>
      </p:sp>
      <p:sp>
        <p:nvSpPr>
          <p:cNvPr id="4" name="Üvegkártya"/>
          <p:cNvSpPr/>
          <p:nvPr/>
        </p:nvSpPr>
        <p:spPr>
          <a:xfrm>
            <a:off x="640080" y="1645920"/>
            <a:ext cx="6675120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Ikon háttér"/>
          <p:cNvSpPr/>
          <p:nvPr/>
        </p:nvSpPr>
        <p:spPr>
          <a:xfrm>
            <a:off x="859536" y="1865376"/>
            <a:ext cx="640080" cy="64008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025396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47088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 a VAWES?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19072" y="2212848"/>
            <a:ext cx="5376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Zenei streaming webalkalmazás: zenehallgatás, keresés és rendszerezés egy helyen.</a:t>
            </a:r>
            <a:endParaRPr lang="en-US" sz="1400" dirty="0"/>
          </a:p>
        </p:txBody>
      </p:sp>
      <p:sp>
        <p:nvSpPr>
          <p:cNvPr id="9" name="Üvegkártya"/>
          <p:cNvSpPr/>
          <p:nvPr/>
        </p:nvSpPr>
        <p:spPr>
          <a:xfrm>
            <a:off x="640080" y="3200400"/>
            <a:ext cx="6675120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Ikon háttér"/>
          <p:cNvSpPr/>
          <p:nvPr/>
        </p:nvSpPr>
        <p:spPr>
          <a:xfrm>
            <a:off x="859536" y="3419856"/>
            <a:ext cx="640080" cy="640080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Image 1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357987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19072" y="3401568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Két rész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719072" y="3767328"/>
            <a:ext cx="5376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Felhasználói weboldal (keresés, lejátszó, listák) és egy admin felület a zenék és userek kezeléséhez.</a:t>
            </a:r>
            <a:endParaRPr lang="en-US" sz="1400" dirty="0"/>
          </a:p>
        </p:txBody>
      </p:sp>
      <p:sp>
        <p:nvSpPr>
          <p:cNvPr id="14" name="Üvegkártya"/>
          <p:cNvSpPr/>
          <p:nvPr/>
        </p:nvSpPr>
        <p:spPr>
          <a:xfrm>
            <a:off x="640080" y="4754880"/>
            <a:ext cx="6675120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Ikon háttér"/>
          <p:cNvSpPr/>
          <p:nvPr/>
        </p:nvSpPr>
        <p:spPr>
          <a:xfrm>
            <a:off x="859536" y="4974336"/>
            <a:ext cx="640080" cy="64008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2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513435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19072" y="4956048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cél: „Spotify killer”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19072" y="5321808"/>
            <a:ext cx="5376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Projektcél, nem komoly állítás: tisztább, testreszabhatóbb és átláthatóbb zenei élmény.</a:t>
            </a:r>
            <a:endParaRPr lang="en-US" sz="1400" dirty="0"/>
          </a:p>
        </p:txBody>
      </p:sp>
      <p:sp>
        <p:nvSpPr>
          <p:cNvPr id="19" name="Logó panel"/>
          <p:cNvSpPr/>
          <p:nvPr/>
        </p:nvSpPr>
        <p:spPr>
          <a:xfrm>
            <a:off x="7589520" y="1645920"/>
            <a:ext cx="3959352" cy="4480560"/>
          </a:xfrm>
          <a:prstGeom prst="roundRect">
            <a:avLst>
              <a:gd name="adj" fmla="val 8083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20" name="Image 3" descr="VAWES log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1920240"/>
            <a:ext cx="2743200" cy="2743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75488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kern="0" spc="800" dirty="0">
                <a:solidFill>
                  <a:schemeClr val="bg1"/>
                </a:solidFill>
              </a:rPr>
              <a:t>VAWES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5349240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„waves” = hanghullámok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HALADÁS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Hol tartunk most?</a:t>
            </a:r>
            <a:endParaRPr lang="en-US" sz="3800" dirty="0"/>
          </a:p>
        </p:txBody>
      </p:sp>
      <p:sp>
        <p:nvSpPr>
          <p:cNvPr id="4" name="Üvegkártya"/>
          <p:cNvSpPr/>
          <p:nvPr/>
        </p:nvSpPr>
        <p:spPr>
          <a:xfrm>
            <a:off x="640080" y="1691640"/>
            <a:ext cx="2514600" cy="2926080"/>
          </a:xfrm>
          <a:prstGeom prst="roundRect">
            <a:avLst>
              <a:gd name="adj" fmla="val 1090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7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adatbázistábla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users, songs, artists, albums, playlists, playlist_songs, favorites</a:t>
            </a:r>
            <a:endParaRPr lang="en-US" sz="1500" dirty="0"/>
          </a:p>
        </p:txBody>
      </p:sp>
      <p:sp>
        <p:nvSpPr>
          <p:cNvPr id="8" name="Üvegkártya"/>
          <p:cNvSpPr/>
          <p:nvPr/>
        </p:nvSpPr>
        <p:spPr>
          <a:xfrm>
            <a:off x="3439058" y="1691640"/>
            <a:ext cx="2514600" cy="2926080"/>
          </a:xfrm>
          <a:prstGeom prst="roundRect">
            <a:avLst>
              <a:gd name="adj" fmla="val 1090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 txBox="1"/>
          <p:nvPr/>
        </p:nvSpPr>
        <p:spPr>
          <a:xfrm>
            <a:off x="3713378" y="18288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3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371337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működő oldal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13378" y="33832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Lejátszó és lista nézet, Keresés, Könyvtár</a:t>
            </a:r>
            <a:endParaRPr lang="en-US" sz="1500" dirty="0"/>
          </a:p>
        </p:txBody>
      </p:sp>
      <p:sp>
        <p:nvSpPr>
          <p:cNvPr id="12" name="Üvegkártya"/>
          <p:cNvSpPr/>
          <p:nvPr/>
        </p:nvSpPr>
        <p:spPr>
          <a:xfrm>
            <a:off x="6238037" y="1691640"/>
            <a:ext cx="2514600" cy="2926080"/>
          </a:xfrm>
          <a:prstGeom prst="roundRect">
            <a:avLst>
              <a:gd name="adj" fmla="val 1090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 txBox="1"/>
          <p:nvPr/>
        </p:nvSpPr>
        <p:spPr>
          <a:xfrm>
            <a:off x="6512357" y="18288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8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6512357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demo lista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12357" y="33832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Lejátszási listák a Könyvtárban, szűrhetően és rendezhetően</a:t>
            </a:r>
            <a:endParaRPr lang="en-US" sz="1500" dirty="0"/>
          </a:p>
        </p:txBody>
      </p:sp>
      <p:sp>
        <p:nvSpPr>
          <p:cNvPr id="16" name="Üvegkártya"/>
          <p:cNvSpPr/>
          <p:nvPr/>
        </p:nvSpPr>
        <p:spPr>
          <a:xfrm>
            <a:off x="9037015" y="1691640"/>
            <a:ext cx="2514600" cy="2926080"/>
          </a:xfrm>
          <a:prstGeom prst="roundRect">
            <a:avLst>
              <a:gd name="adj" fmla="val 1090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 txBox="1"/>
          <p:nvPr/>
        </p:nvSpPr>
        <p:spPr>
          <a:xfrm>
            <a:off x="9311335" y="18288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4"/>
                </a:solidFill>
              </a:rPr>
              <a:t>1</a:t>
            </a:r>
            <a:endParaRPr lang="en-US" sz="7200" dirty="0"/>
          </a:p>
        </p:txBody>
      </p:sp>
      <p:sp>
        <p:nvSpPr>
          <p:cNvPr id="18" name="Text 16"/>
          <p:cNvSpPr txBox="1"/>
          <p:nvPr/>
        </p:nvSpPr>
        <p:spPr>
          <a:xfrm>
            <a:off x="9311335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végleges logó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311335" y="33832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V betűs üveglogó, mélyén a hanghullám ívével</a:t>
            </a:r>
            <a:endParaRPr lang="en-US" sz="1500" dirty="0"/>
          </a:p>
        </p:txBody>
      </p:sp>
      <p:sp>
        <p:nvSpPr>
          <p:cNvPr id="20" name="Üvegkártya"/>
          <p:cNvSpPr/>
          <p:nvPr/>
        </p:nvSpPr>
        <p:spPr>
          <a:xfrm>
            <a:off x="640080" y="4937760"/>
            <a:ext cx="10911535" cy="1143000"/>
          </a:xfrm>
          <a:prstGeom prst="roundRect">
            <a:avLst>
              <a:gd name="adj" fmla="val 24000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Ikon háttér"/>
          <p:cNvSpPr/>
          <p:nvPr/>
        </p:nvSpPr>
        <p:spPr>
          <a:xfrm>
            <a:off x="960120" y="5230368"/>
            <a:ext cx="548640" cy="548640"/>
          </a:xfrm>
          <a:prstGeom prst="ellipse">
            <a:avLst/>
          </a:prstGeom>
          <a:solidFill>
            <a:schemeClr val="accent5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2" name="Image 0" descr="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6752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737360" y="4937760"/>
            <a:ext cx="94484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Sprint 2 óta a koncepcióból működő, kattintható weboldal-prototípus lett.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HALADÁS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Terv és megvalósítás</a:t>
            </a:r>
            <a:endParaRPr lang="en-US" sz="3800" dirty="0"/>
          </a:p>
        </p:txBody>
      </p:sp>
      <p:sp>
        <p:nvSpPr>
          <p:cNvPr id="4" name="Üvegkártya"/>
          <p:cNvSpPr/>
          <p:nvPr/>
        </p:nvSpPr>
        <p:spPr>
          <a:xfrm>
            <a:off x="640080" y="1645920"/>
            <a:ext cx="3472586" cy="4480560"/>
          </a:xfrm>
          <a:prstGeom prst="roundRect">
            <a:avLst>
              <a:gd name="adj" fmla="val 79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tátusz pont"/>
          <p:cNvSpPr/>
          <p:nvPr/>
        </p:nvSpPr>
        <p:spPr>
          <a:xfrm>
            <a:off x="960120" y="1984248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1353312" y="1874520"/>
            <a:ext cx="200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Kész</a:t>
            </a:r>
            <a:endParaRPr lang="en-US" sz="2200" dirty="0"/>
          </a:p>
        </p:txBody>
      </p:sp>
      <p:sp>
        <p:nvSpPr>
          <p:cNvPr id="7" name="Címke"/>
          <p:cNvSpPr/>
          <p:nvPr/>
        </p:nvSpPr>
        <p:spPr>
          <a:xfrm>
            <a:off x="3243986" y="1938528"/>
            <a:ext cx="54864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 txBox="1"/>
          <p:nvPr/>
        </p:nvSpPr>
        <p:spPr>
          <a:xfrm>
            <a:off x="3243986" y="19385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51760"/>
            <a:ext cx="283250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V logó – végleges választás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Adatbázis: 7 tábla, SQL kész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Lejátszó és lista oldal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Keresés</a:t>
            </a:r>
            <a:endParaRPr lang="hu-HU" sz="17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Könyvtár</a:t>
            </a:r>
            <a:r>
              <a:rPr lang="en-US" sz="1700" dirty="0">
                <a:solidFill>
                  <a:schemeClr val="bg1"/>
                </a:solidFill>
              </a:rPr>
              <a:t>: szűrés, rendezés, keresés</a:t>
            </a:r>
            <a:endParaRPr lang="en-US" sz="1700" dirty="0"/>
          </a:p>
        </p:txBody>
      </p:sp>
      <p:sp>
        <p:nvSpPr>
          <p:cNvPr id="10" name="Üvegkártya"/>
          <p:cNvSpPr/>
          <p:nvPr/>
        </p:nvSpPr>
        <p:spPr>
          <a:xfrm>
            <a:off x="4359554" y="1645920"/>
            <a:ext cx="3472586" cy="4480560"/>
          </a:xfrm>
          <a:prstGeom prst="roundRect">
            <a:avLst>
              <a:gd name="adj" fmla="val 79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tátusz pont"/>
          <p:cNvSpPr/>
          <p:nvPr/>
        </p:nvSpPr>
        <p:spPr>
          <a:xfrm>
            <a:off x="4679594" y="1984248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 txBox="1"/>
          <p:nvPr/>
        </p:nvSpPr>
        <p:spPr>
          <a:xfrm>
            <a:off x="5072786" y="1874520"/>
            <a:ext cx="200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Részben kész</a:t>
            </a:r>
            <a:endParaRPr lang="en-US" sz="2200" dirty="0"/>
          </a:p>
        </p:txBody>
      </p:sp>
      <p:sp>
        <p:nvSpPr>
          <p:cNvPr id="13" name="Címke"/>
          <p:cNvSpPr/>
          <p:nvPr/>
        </p:nvSpPr>
        <p:spPr>
          <a:xfrm>
            <a:off x="6963461" y="1938528"/>
            <a:ext cx="5486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 txBox="1"/>
          <p:nvPr/>
        </p:nvSpPr>
        <p:spPr>
          <a:xfrm>
            <a:off x="6963461" y="19385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79594" y="2651760"/>
            <a:ext cx="283250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Lejátszó: a gombok váltanak, hang még nincs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Adatok: demo adat a kódban, adatbázis nélkül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Stílus: sötét téma, a liquid glass még hiányzik</a:t>
            </a:r>
            <a:endParaRPr lang="en-US" sz="1700" dirty="0"/>
          </a:p>
        </p:txBody>
      </p:sp>
      <p:sp>
        <p:nvSpPr>
          <p:cNvPr id="16" name="Üvegkártya"/>
          <p:cNvSpPr/>
          <p:nvPr/>
        </p:nvSpPr>
        <p:spPr>
          <a:xfrm>
            <a:off x="8079029" y="1645920"/>
            <a:ext cx="3472586" cy="4480560"/>
          </a:xfrm>
          <a:prstGeom prst="roundRect">
            <a:avLst>
              <a:gd name="adj" fmla="val 79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tátusz pont"/>
          <p:cNvSpPr/>
          <p:nvPr/>
        </p:nvSpPr>
        <p:spPr>
          <a:xfrm>
            <a:off x="8399069" y="198424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 txBox="1"/>
          <p:nvPr/>
        </p:nvSpPr>
        <p:spPr>
          <a:xfrm>
            <a:off x="8792261" y="1874520"/>
            <a:ext cx="200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Következik</a:t>
            </a:r>
            <a:endParaRPr lang="en-US" sz="2200" dirty="0"/>
          </a:p>
        </p:txBody>
      </p:sp>
      <p:sp>
        <p:nvSpPr>
          <p:cNvPr id="19" name="Címke"/>
          <p:cNvSpPr/>
          <p:nvPr/>
        </p:nvSpPr>
        <p:spPr>
          <a:xfrm>
            <a:off x="10682935" y="1938528"/>
            <a:ext cx="548640" cy="32918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 txBox="1"/>
          <p:nvPr/>
        </p:nvSpPr>
        <p:spPr>
          <a:xfrm>
            <a:off x="10682935" y="19385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99069" y="2651760"/>
            <a:ext cx="283250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Felfedezés, előadó- és albumoldal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Profil és beállítások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Admin felület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Adatbázis-kapcsolat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ELŐNÉZET  •  VAWES.HTML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Lejátszó és lista nézet</a:t>
            </a:r>
            <a:endParaRPr lang="en-US" sz="3800" dirty="0"/>
          </a:p>
        </p:txBody>
      </p:sp>
      <p:sp>
        <p:nvSpPr>
          <p:cNvPr id="4" name="Böngészőablak"/>
          <p:cNvSpPr/>
          <p:nvPr/>
        </p:nvSpPr>
        <p:spPr>
          <a:xfrm>
            <a:off x="640080" y="1645920"/>
            <a:ext cx="7022592" cy="4354830"/>
          </a:xfrm>
          <a:prstGeom prst="roundRect">
            <a:avLst>
              <a:gd name="adj" fmla="val 5459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Ablakgomb"/>
          <p:cNvSpPr/>
          <p:nvPr/>
        </p:nvSpPr>
        <p:spPr>
          <a:xfrm>
            <a:off x="877824" y="1801368"/>
            <a:ext cx="109728" cy="109728"/>
          </a:xfrm>
          <a:prstGeom prst="ellipse">
            <a:avLst/>
          </a:prstGeom>
          <a:solidFill>
            <a:schemeClr val="accent3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Ablakgomb"/>
          <p:cNvSpPr/>
          <p:nvPr/>
        </p:nvSpPr>
        <p:spPr>
          <a:xfrm>
            <a:off x="1060704" y="1801368"/>
            <a:ext cx="109728" cy="109728"/>
          </a:xfrm>
          <a:prstGeom prst="ellipse">
            <a:avLst/>
          </a:prstGeom>
          <a:solidFill>
            <a:schemeClr val="accent6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Ablakgomb"/>
          <p:cNvSpPr/>
          <p:nvPr/>
        </p:nvSpPr>
        <p:spPr>
          <a:xfrm>
            <a:off x="1243584" y="1801368"/>
            <a:ext cx="109728" cy="109728"/>
          </a:xfrm>
          <a:prstGeom prst="ellipse">
            <a:avLst/>
          </a:prstGeom>
          <a:solidFill>
            <a:schemeClr val="accent5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Címsor"/>
          <p:cNvSpPr/>
          <p:nvPr/>
        </p:nvSpPr>
        <p:spPr>
          <a:xfrm>
            <a:off x="1554480" y="1737360"/>
            <a:ext cx="3017520" cy="23774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 txBox="1"/>
          <p:nvPr/>
        </p:nvSpPr>
        <p:spPr>
          <a:xfrm>
            <a:off x="1554480" y="1737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VAWES.html</a:t>
            </a:r>
            <a:endParaRPr lang="en-US" sz="1000" dirty="0"/>
          </a:p>
        </p:txBody>
      </p:sp>
      <p:pic>
        <p:nvPicPr>
          <p:cNvPr id="10" name="Image 0" descr="A lejátszó és lista oldal képernyőké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66544"/>
            <a:ext cx="6766560" cy="3806190"/>
          </a:xfrm>
          <a:prstGeom prst="rect">
            <a:avLst/>
          </a:prstGeom>
        </p:spPr>
      </p:pic>
      <p:sp>
        <p:nvSpPr>
          <p:cNvPr id="11" name="Üvegkártya"/>
          <p:cNvSpPr/>
          <p:nvPr/>
        </p:nvSpPr>
        <p:spPr>
          <a:xfrm>
            <a:off x="8001000" y="1645920"/>
            <a:ext cx="3547872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Ikon háttér"/>
          <p:cNvSpPr/>
          <p:nvPr/>
        </p:nvSpPr>
        <p:spPr>
          <a:xfrm>
            <a:off x="8220456" y="1865376"/>
            <a:ext cx="566928" cy="566928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3" name="Image 1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200710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006840" y="18470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Oldalsáv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12848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Főoldal, Keresés, Könyvtár és a lejátszási listák egy helyen.</a:t>
            </a:r>
            <a:endParaRPr lang="en-US" sz="1400" dirty="0"/>
          </a:p>
        </p:txBody>
      </p:sp>
      <p:sp>
        <p:nvSpPr>
          <p:cNvPr id="16" name="Üvegkártya"/>
          <p:cNvSpPr/>
          <p:nvPr/>
        </p:nvSpPr>
        <p:spPr>
          <a:xfrm>
            <a:off x="8001000" y="3136392"/>
            <a:ext cx="3547872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Ikon háttér"/>
          <p:cNvSpPr/>
          <p:nvPr/>
        </p:nvSpPr>
        <p:spPr>
          <a:xfrm>
            <a:off x="8220456" y="3355848"/>
            <a:ext cx="566928" cy="566928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8" name="Image 2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188" y="349758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333756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Számlista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3703320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Sorszám, cím, album és hossz – kiemelés az egérrel.</a:t>
            </a:r>
            <a:endParaRPr lang="en-US" sz="1400" dirty="0"/>
          </a:p>
        </p:txBody>
      </p:sp>
      <p:sp>
        <p:nvSpPr>
          <p:cNvPr id="21" name="Üvegkártya"/>
          <p:cNvSpPr/>
          <p:nvPr/>
        </p:nvSpPr>
        <p:spPr>
          <a:xfrm>
            <a:off x="8001000" y="4626864"/>
            <a:ext cx="3547872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Ikon háttér"/>
          <p:cNvSpPr/>
          <p:nvPr/>
        </p:nvSpPr>
        <p:spPr>
          <a:xfrm>
            <a:off x="8220456" y="4846320"/>
            <a:ext cx="566928" cy="566928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3" name="Image 3" descr="ik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188" y="498805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06840" y="482803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Lejátszósáv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006840" y="5193792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Előző, lejátszás, következő, idővonal és az aktuális szám.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ELŐNÉZET  •  KERESES.HTML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Keresés</a:t>
            </a:r>
            <a:endParaRPr lang="en-US" sz="3800" dirty="0"/>
          </a:p>
        </p:txBody>
      </p:sp>
      <p:sp>
        <p:nvSpPr>
          <p:cNvPr id="4" name="Böngészőablak"/>
          <p:cNvSpPr/>
          <p:nvPr/>
        </p:nvSpPr>
        <p:spPr>
          <a:xfrm>
            <a:off x="640080" y="1600200"/>
            <a:ext cx="5330952" cy="3403283"/>
          </a:xfrm>
          <a:prstGeom prst="roundRect">
            <a:avLst>
              <a:gd name="adj" fmla="val 6986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Ablakgomb"/>
          <p:cNvSpPr/>
          <p:nvPr/>
        </p:nvSpPr>
        <p:spPr>
          <a:xfrm>
            <a:off x="877824" y="1755648"/>
            <a:ext cx="109728" cy="109728"/>
          </a:xfrm>
          <a:prstGeom prst="ellipse">
            <a:avLst/>
          </a:prstGeom>
          <a:solidFill>
            <a:schemeClr val="accent3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Ablakgomb"/>
          <p:cNvSpPr/>
          <p:nvPr/>
        </p:nvSpPr>
        <p:spPr>
          <a:xfrm>
            <a:off x="1060704" y="1755648"/>
            <a:ext cx="109728" cy="109728"/>
          </a:xfrm>
          <a:prstGeom prst="ellipse">
            <a:avLst/>
          </a:prstGeom>
          <a:solidFill>
            <a:schemeClr val="accent6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Ablakgomb"/>
          <p:cNvSpPr/>
          <p:nvPr/>
        </p:nvSpPr>
        <p:spPr>
          <a:xfrm>
            <a:off x="1243584" y="1755648"/>
            <a:ext cx="109728" cy="109728"/>
          </a:xfrm>
          <a:prstGeom prst="ellipse">
            <a:avLst/>
          </a:prstGeom>
          <a:solidFill>
            <a:schemeClr val="accent5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Címsor"/>
          <p:cNvSpPr/>
          <p:nvPr/>
        </p:nvSpPr>
        <p:spPr>
          <a:xfrm>
            <a:off x="1554480" y="1691640"/>
            <a:ext cx="3017520" cy="23774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 txBox="1"/>
          <p:nvPr/>
        </p:nvSpPr>
        <p:spPr>
          <a:xfrm>
            <a:off x="1554480" y="16916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kereses.html – böngészés</a:t>
            </a:r>
            <a:endParaRPr lang="en-US" sz="1000" dirty="0"/>
          </a:p>
        </p:txBody>
      </p:sp>
      <p:pic>
        <p:nvPicPr>
          <p:cNvPr id="10" name="Image 0" descr="Keresés oldal böngészés nézetb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20824"/>
            <a:ext cx="5074920" cy="2854643"/>
          </a:xfrm>
          <a:prstGeom prst="rect">
            <a:avLst/>
          </a:prstGeom>
        </p:spPr>
      </p:pic>
      <p:sp>
        <p:nvSpPr>
          <p:cNvPr id="11" name="Böngészőablak"/>
          <p:cNvSpPr/>
          <p:nvPr/>
        </p:nvSpPr>
        <p:spPr>
          <a:xfrm>
            <a:off x="6217920" y="1600200"/>
            <a:ext cx="5330952" cy="3403283"/>
          </a:xfrm>
          <a:prstGeom prst="roundRect">
            <a:avLst>
              <a:gd name="adj" fmla="val 6986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Ablakgomb"/>
          <p:cNvSpPr/>
          <p:nvPr/>
        </p:nvSpPr>
        <p:spPr>
          <a:xfrm>
            <a:off x="6455664" y="1755648"/>
            <a:ext cx="109728" cy="109728"/>
          </a:xfrm>
          <a:prstGeom prst="ellipse">
            <a:avLst/>
          </a:prstGeom>
          <a:solidFill>
            <a:schemeClr val="accent3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Ablakgomb"/>
          <p:cNvSpPr/>
          <p:nvPr/>
        </p:nvSpPr>
        <p:spPr>
          <a:xfrm>
            <a:off x="6638544" y="1755648"/>
            <a:ext cx="109728" cy="109728"/>
          </a:xfrm>
          <a:prstGeom prst="ellipse">
            <a:avLst/>
          </a:prstGeom>
          <a:solidFill>
            <a:schemeClr val="accent6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Ablakgomb"/>
          <p:cNvSpPr/>
          <p:nvPr/>
        </p:nvSpPr>
        <p:spPr>
          <a:xfrm>
            <a:off x="6821424" y="1755648"/>
            <a:ext cx="109728" cy="109728"/>
          </a:xfrm>
          <a:prstGeom prst="ellipse">
            <a:avLst/>
          </a:prstGeom>
          <a:solidFill>
            <a:schemeClr val="accent5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5" name="Címsor"/>
          <p:cNvSpPr/>
          <p:nvPr/>
        </p:nvSpPr>
        <p:spPr>
          <a:xfrm>
            <a:off x="7132320" y="1691640"/>
            <a:ext cx="3017520" cy="23774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 txBox="1"/>
          <p:nvPr/>
        </p:nvSpPr>
        <p:spPr>
          <a:xfrm>
            <a:off x="7132320" y="16916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kereses.html – keresés: „wave”</a:t>
            </a:r>
            <a:endParaRPr lang="en-US" sz="1000" dirty="0"/>
          </a:p>
        </p:txBody>
      </p:sp>
      <p:pic>
        <p:nvPicPr>
          <p:cNvPr id="17" name="Image 1" descr="Keresés oldal találatokk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020824"/>
            <a:ext cx="5074920" cy="2854643"/>
          </a:xfrm>
          <a:prstGeom prst="rect">
            <a:avLst/>
          </a:prstGeom>
        </p:spPr>
      </p:pic>
      <p:sp>
        <p:nvSpPr>
          <p:cNvPr id="18" name="Üvegkártya"/>
          <p:cNvSpPr/>
          <p:nvPr/>
        </p:nvSpPr>
        <p:spPr>
          <a:xfrm>
            <a:off x="640080" y="5285232"/>
            <a:ext cx="3472586" cy="868680"/>
          </a:xfrm>
          <a:prstGeom prst="roundRect">
            <a:avLst>
              <a:gd name="adj" fmla="val 23158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Ikon háttér"/>
          <p:cNvSpPr/>
          <p:nvPr/>
        </p:nvSpPr>
        <p:spPr>
          <a:xfrm>
            <a:off x="841248" y="5468112"/>
            <a:ext cx="502920" cy="50292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5593842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5285232"/>
            <a:ext cx="24210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Élő szűrés gépelés közben, törlés gombbal.</a:t>
            </a:r>
            <a:endParaRPr lang="en-US" sz="1400" dirty="0"/>
          </a:p>
        </p:txBody>
      </p:sp>
      <p:sp>
        <p:nvSpPr>
          <p:cNvPr id="22" name="Üvegkártya"/>
          <p:cNvSpPr/>
          <p:nvPr/>
        </p:nvSpPr>
        <p:spPr>
          <a:xfrm>
            <a:off x="4359554" y="5285232"/>
            <a:ext cx="3472586" cy="868680"/>
          </a:xfrm>
          <a:prstGeom prst="roundRect">
            <a:avLst>
              <a:gd name="adj" fmla="val 23158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Ikon háttér"/>
          <p:cNvSpPr/>
          <p:nvPr/>
        </p:nvSpPr>
        <p:spPr>
          <a:xfrm>
            <a:off x="4560722" y="5468112"/>
            <a:ext cx="502920" cy="502920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4" name="Image 3" descr="ik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452" y="5593842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28234" y="5285232"/>
            <a:ext cx="24210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Ékezetfüggetlen keresés, a találat kiemelve.</a:t>
            </a:r>
            <a:endParaRPr lang="en-US" sz="1400" dirty="0"/>
          </a:p>
        </p:txBody>
      </p:sp>
      <p:sp>
        <p:nvSpPr>
          <p:cNvPr id="26" name="Üvegkártya"/>
          <p:cNvSpPr/>
          <p:nvPr/>
        </p:nvSpPr>
        <p:spPr>
          <a:xfrm>
            <a:off x="8079029" y="5285232"/>
            <a:ext cx="3472586" cy="868680"/>
          </a:xfrm>
          <a:prstGeom prst="roundRect">
            <a:avLst>
              <a:gd name="adj" fmla="val 23158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Ikon háttér"/>
          <p:cNvSpPr/>
          <p:nvPr/>
        </p:nvSpPr>
        <p:spPr>
          <a:xfrm>
            <a:off x="8280197" y="5468112"/>
            <a:ext cx="502920" cy="50292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8" name="Image 4" descr="ik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927" y="5593842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47709" y="5285232"/>
            <a:ext cx="24210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Szűrés lista szerint, kattintásra lejátszás.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ELŐNÉZET  •  KONYVTAR.HTML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Könyvtár</a:t>
            </a:r>
            <a:endParaRPr lang="en-US" sz="3800" dirty="0"/>
          </a:p>
        </p:txBody>
      </p:sp>
      <p:sp>
        <p:nvSpPr>
          <p:cNvPr id="4" name="Üvegkártya"/>
          <p:cNvSpPr/>
          <p:nvPr/>
        </p:nvSpPr>
        <p:spPr>
          <a:xfrm>
            <a:off x="640080" y="1645920"/>
            <a:ext cx="3547872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Ikon háttér"/>
          <p:cNvSpPr/>
          <p:nvPr/>
        </p:nvSpPr>
        <p:spPr>
          <a:xfrm>
            <a:off x="859536" y="1865376"/>
            <a:ext cx="566928" cy="566928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0071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470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Szűrés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12848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Mind, Saját és VAWES válogatás – egy kattintással.</a:t>
            </a:r>
            <a:endParaRPr lang="en-US" sz="1400" dirty="0"/>
          </a:p>
        </p:txBody>
      </p:sp>
      <p:sp>
        <p:nvSpPr>
          <p:cNvPr id="9" name="Üvegkártya"/>
          <p:cNvSpPr/>
          <p:nvPr/>
        </p:nvSpPr>
        <p:spPr>
          <a:xfrm>
            <a:off x="640080" y="3136392"/>
            <a:ext cx="3547872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Ikon háttér"/>
          <p:cNvSpPr/>
          <p:nvPr/>
        </p:nvSpPr>
        <p:spPr>
          <a:xfrm>
            <a:off x="859536" y="3355848"/>
            <a:ext cx="566928" cy="566928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Image 1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349758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33756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Rendezés és keresés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703320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Legutóbbi, név vagy hossz szerint; keresés a listák között.</a:t>
            </a:r>
            <a:endParaRPr lang="en-US" sz="1400" dirty="0"/>
          </a:p>
        </p:txBody>
      </p:sp>
      <p:sp>
        <p:nvSpPr>
          <p:cNvPr id="14" name="Üvegkártya"/>
          <p:cNvSpPr/>
          <p:nvPr/>
        </p:nvSpPr>
        <p:spPr>
          <a:xfrm>
            <a:off x="640080" y="4626864"/>
            <a:ext cx="3547872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Ikon háttér"/>
          <p:cNvSpPr/>
          <p:nvPr/>
        </p:nvSpPr>
        <p:spPr>
          <a:xfrm>
            <a:off x="859536" y="4846320"/>
            <a:ext cx="566928" cy="566928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2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49880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82803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Listakártyák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5193792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8 demo lista borítóval, számmal és játékidővel.</a:t>
            </a:r>
            <a:endParaRPr lang="en-US" sz="1400" dirty="0"/>
          </a:p>
        </p:txBody>
      </p:sp>
      <p:sp>
        <p:nvSpPr>
          <p:cNvPr id="19" name="Böngészőablak"/>
          <p:cNvSpPr/>
          <p:nvPr/>
        </p:nvSpPr>
        <p:spPr>
          <a:xfrm>
            <a:off x="4526280" y="1645920"/>
            <a:ext cx="7022592" cy="4354830"/>
          </a:xfrm>
          <a:prstGeom prst="roundRect">
            <a:avLst>
              <a:gd name="adj" fmla="val 5459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Ablakgomb"/>
          <p:cNvSpPr/>
          <p:nvPr/>
        </p:nvSpPr>
        <p:spPr>
          <a:xfrm>
            <a:off x="4764024" y="1801368"/>
            <a:ext cx="109728" cy="109728"/>
          </a:xfrm>
          <a:prstGeom prst="ellipse">
            <a:avLst/>
          </a:prstGeom>
          <a:solidFill>
            <a:schemeClr val="accent3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1" name="Ablakgomb"/>
          <p:cNvSpPr/>
          <p:nvPr/>
        </p:nvSpPr>
        <p:spPr>
          <a:xfrm>
            <a:off x="4946904" y="1801368"/>
            <a:ext cx="109728" cy="109728"/>
          </a:xfrm>
          <a:prstGeom prst="ellipse">
            <a:avLst/>
          </a:prstGeom>
          <a:solidFill>
            <a:schemeClr val="accent6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2" name="Ablakgomb"/>
          <p:cNvSpPr/>
          <p:nvPr/>
        </p:nvSpPr>
        <p:spPr>
          <a:xfrm>
            <a:off x="5129784" y="1801368"/>
            <a:ext cx="109728" cy="109728"/>
          </a:xfrm>
          <a:prstGeom prst="ellipse">
            <a:avLst/>
          </a:prstGeom>
          <a:solidFill>
            <a:schemeClr val="accent5">
              <a:alpha val="85000"/>
            </a:scheme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3" name="Címsor"/>
          <p:cNvSpPr/>
          <p:nvPr/>
        </p:nvSpPr>
        <p:spPr>
          <a:xfrm>
            <a:off x="5440680" y="1737360"/>
            <a:ext cx="3017520" cy="23774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19"/>
          <p:cNvSpPr txBox="1"/>
          <p:nvPr/>
        </p:nvSpPr>
        <p:spPr>
          <a:xfrm>
            <a:off x="5440680" y="1737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konyvtar.html</a:t>
            </a:r>
            <a:endParaRPr lang="en-US" sz="1000" dirty="0"/>
          </a:p>
        </p:txBody>
      </p:sp>
      <p:pic>
        <p:nvPicPr>
          <p:cNvPr id="25" name="Image 3" descr="A Könyvtár oldal képernyőkép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2066544"/>
            <a:ext cx="6766560" cy="3806190"/>
          </a:xfrm>
          <a:prstGeom prst="rect">
            <a:avLst/>
          </a:prstGeom>
        </p:spPr>
      </p:pic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ELŐNÉZET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A koncepciótól a kódig</a:t>
            </a:r>
            <a:endParaRPr lang="en-US" sz="3800" dirty="0"/>
          </a:p>
        </p:txBody>
      </p:sp>
      <p:sp>
        <p:nvSpPr>
          <p:cNvPr id="4" name="Címke"/>
          <p:cNvSpPr/>
          <p:nvPr/>
        </p:nvSpPr>
        <p:spPr>
          <a:xfrm>
            <a:off x="640080" y="1508760"/>
            <a:ext cx="265176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SPRINT 2  •  KONCEPCIÓ</a:t>
            </a:r>
            <a:endParaRPr lang="en-US" sz="1200" dirty="0"/>
          </a:p>
        </p:txBody>
      </p:sp>
      <p:sp>
        <p:nvSpPr>
          <p:cNvPr id="6" name="Címke"/>
          <p:cNvSpPr/>
          <p:nvPr/>
        </p:nvSpPr>
        <p:spPr>
          <a:xfrm>
            <a:off x="5841695" y="1508760"/>
            <a:ext cx="310896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 txBox="1"/>
          <p:nvPr/>
        </p:nvSpPr>
        <p:spPr>
          <a:xfrm>
            <a:off x="5841695" y="1508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MOST  •  MŰKÖDŐ PROTOTÍPUS</a:t>
            </a:r>
            <a:endParaRPr lang="en-US" sz="1200" dirty="0"/>
          </a:p>
        </p:txBody>
      </p:sp>
      <p:sp>
        <p:nvSpPr>
          <p:cNvPr id="8" name="Üvegkártya"/>
          <p:cNvSpPr/>
          <p:nvPr/>
        </p:nvSpPr>
        <p:spPr>
          <a:xfrm>
            <a:off x="640080" y="2011680"/>
            <a:ext cx="4150623" cy="3291840"/>
          </a:xfrm>
          <a:prstGeom prst="roundRect">
            <a:avLst>
              <a:gd name="adj" fmla="val 7222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0" descr="A Sprint 2 koncepció mockupj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3967743" cy="3108960"/>
          </a:xfrm>
          <a:prstGeom prst="rect">
            <a:avLst/>
          </a:prstGeom>
        </p:spPr>
      </p:pic>
      <p:sp>
        <p:nvSpPr>
          <p:cNvPr id="10" name="Üvegkártya"/>
          <p:cNvSpPr/>
          <p:nvPr/>
        </p:nvSpPr>
        <p:spPr>
          <a:xfrm>
            <a:off x="5841695" y="2011680"/>
            <a:ext cx="5709920" cy="3291840"/>
          </a:xfrm>
          <a:prstGeom prst="roundRect">
            <a:avLst>
              <a:gd name="adj" fmla="val 7222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1" name="Image 1" descr="A működő keresés old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135" y="2103120"/>
            <a:ext cx="5527040" cy="3108960"/>
          </a:xfrm>
          <a:prstGeom prst="rect">
            <a:avLst/>
          </a:prstGeom>
        </p:spPr>
      </p:pic>
      <p:sp>
        <p:nvSpPr>
          <p:cNvPr id="12" name="Nyíl háttér"/>
          <p:cNvSpPr/>
          <p:nvPr/>
        </p:nvSpPr>
        <p:spPr>
          <a:xfrm>
            <a:off x="4973299" y="3314700"/>
            <a:ext cx="685800" cy="68580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bg1">
                <a:alpha val="5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3" name="Image 2" descr="nyí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035" y="3488436"/>
            <a:ext cx="338328" cy="338328"/>
          </a:xfrm>
          <a:prstGeom prst="rect">
            <a:avLst/>
          </a:prstGeom>
        </p:spPr>
      </p:pic>
      <p:sp>
        <p:nvSpPr>
          <p:cNvPr id="14" name="Üvegkártya"/>
          <p:cNvSpPr/>
          <p:nvPr/>
        </p:nvSpPr>
        <p:spPr>
          <a:xfrm>
            <a:off x="640080" y="5532120"/>
            <a:ext cx="10911535" cy="566928"/>
          </a:xfrm>
          <a:prstGeom prst="roundRect">
            <a:avLst>
              <a:gd name="adj" fmla="val 48387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0"/>
          <p:cNvSpPr txBox="1"/>
          <p:nvPr/>
        </p:nvSpPr>
        <p:spPr>
          <a:xfrm>
            <a:off x="1005840" y="553212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Következő lépés: a koncepció üveg-hatású stílusát átvinni a kódba.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ADATBÁZIS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Az adatbázis felépítése</a:t>
            </a:r>
            <a:endParaRPr lang="en-US" sz="3800" dirty="0"/>
          </a:p>
        </p:txBody>
      </p:sp>
      <p:sp>
        <p:nvSpPr>
          <p:cNvPr id="4" name="Üvegkártya"/>
          <p:cNvSpPr/>
          <p:nvPr/>
        </p:nvSpPr>
        <p:spPr>
          <a:xfrm>
            <a:off x="640080" y="1645920"/>
            <a:ext cx="7315200" cy="3025392"/>
          </a:xfrm>
          <a:prstGeom prst="roundRect">
            <a:avLst>
              <a:gd name="adj" fmla="val 7858"/>
            </a:avLst>
          </a:prstGeom>
          <a:solidFill>
            <a:schemeClr val="bg1">
              <a:alpha val="16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5" name="Image 0" descr="Az adatbázis kapcsolati diagramj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7040880" cy="2751072"/>
          </a:xfrm>
          <a:prstGeom prst="rect">
            <a:avLst/>
          </a:prstGeom>
        </p:spPr>
      </p:pic>
      <p:sp>
        <p:nvSpPr>
          <p:cNvPr id="6" name="Üvegkártya"/>
          <p:cNvSpPr/>
          <p:nvPr/>
        </p:nvSpPr>
        <p:spPr>
          <a:xfrm>
            <a:off x="640080" y="4945632"/>
            <a:ext cx="2316480" cy="1180848"/>
          </a:xfrm>
          <a:prstGeom prst="roundRect">
            <a:avLst>
              <a:gd name="adj" fmla="val 17036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Csoport pont"/>
          <p:cNvSpPr/>
          <p:nvPr/>
        </p:nvSpPr>
        <p:spPr>
          <a:xfrm>
            <a:off x="868680" y="519252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 txBox="1"/>
          <p:nvPr/>
        </p:nvSpPr>
        <p:spPr>
          <a:xfrm>
            <a:off x="1170432" y="5110224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Felhasználók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539992"/>
            <a:ext cx="190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users, playlists, favorites</a:t>
            </a:r>
            <a:endParaRPr lang="en-US" sz="1400" dirty="0"/>
          </a:p>
        </p:txBody>
      </p:sp>
      <p:sp>
        <p:nvSpPr>
          <p:cNvPr id="10" name="Üvegkártya"/>
          <p:cNvSpPr/>
          <p:nvPr/>
        </p:nvSpPr>
        <p:spPr>
          <a:xfrm>
            <a:off x="3139440" y="4945632"/>
            <a:ext cx="2316480" cy="1180848"/>
          </a:xfrm>
          <a:prstGeom prst="roundRect">
            <a:avLst>
              <a:gd name="adj" fmla="val 17036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Csoport pont"/>
          <p:cNvSpPr/>
          <p:nvPr/>
        </p:nvSpPr>
        <p:spPr>
          <a:xfrm>
            <a:off x="3368040" y="51925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 txBox="1"/>
          <p:nvPr/>
        </p:nvSpPr>
        <p:spPr>
          <a:xfrm>
            <a:off x="3669792" y="5110224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Zene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368040" y="5539992"/>
            <a:ext cx="190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songs, artists, albums</a:t>
            </a:r>
            <a:endParaRPr lang="en-US" sz="1400" dirty="0"/>
          </a:p>
        </p:txBody>
      </p:sp>
      <p:sp>
        <p:nvSpPr>
          <p:cNvPr id="14" name="Üvegkártya"/>
          <p:cNvSpPr/>
          <p:nvPr/>
        </p:nvSpPr>
        <p:spPr>
          <a:xfrm>
            <a:off x="5638800" y="4945632"/>
            <a:ext cx="2316480" cy="1180848"/>
          </a:xfrm>
          <a:prstGeom prst="roundRect">
            <a:avLst>
              <a:gd name="adj" fmla="val 17036"/>
            </a:avLst>
          </a:prstGeom>
          <a:solidFill>
            <a:schemeClr val="bg1">
              <a:alpha val="14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Csoport pont"/>
          <p:cNvSpPr/>
          <p:nvPr/>
        </p:nvSpPr>
        <p:spPr>
          <a:xfrm>
            <a:off x="5867400" y="51925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 txBox="1"/>
          <p:nvPr/>
        </p:nvSpPr>
        <p:spPr>
          <a:xfrm>
            <a:off x="6169152" y="5110224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Kapcsolat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67400" y="5539992"/>
            <a:ext cx="190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playlist_songs</a:t>
            </a:r>
            <a:endParaRPr lang="en-US" sz="1400" dirty="0"/>
          </a:p>
        </p:txBody>
      </p:sp>
      <p:sp>
        <p:nvSpPr>
          <p:cNvPr id="18" name="Üvegkártya"/>
          <p:cNvSpPr/>
          <p:nvPr/>
        </p:nvSpPr>
        <p:spPr>
          <a:xfrm>
            <a:off x="8275320" y="1645920"/>
            <a:ext cx="3276295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Text 16"/>
          <p:cNvSpPr txBox="1"/>
          <p:nvPr/>
        </p:nvSpPr>
        <p:spPr>
          <a:xfrm>
            <a:off x="8549640" y="164592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7</a:t>
            </a:r>
            <a:endParaRPr lang="en-US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1645920"/>
            <a:ext cx="1721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tábla az SQL-ben, </a:t>
            </a:r>
            <a:r>
              <a:rPr lang="hu-HU" sz="1600" b="1" dirty="0" err="1">
                <a:solidFill>
                  <a:schemeClr val="bg1"/>
                </a:solidFill>
              </a:rPr>
              <a:t>MySQL</a:t>
            </a:r>
            <a:r>
              <a:rPr lang="en-US" sz="1600" b="1" dirty="0">
                <a:solidFill>
                  <a:schemeClr val="bg1"/>
                </a:solidFill>
              </a:rPr>
              <a:t>-</a:t>
            </a:r>
            <a:r>
              <a:rPr lang="en-US" sz="1600" b="1" dirty="0" err="1">
                <a:solidFill>
                  <a:schemeClr val="bg1"/>
                </a:solidFill>
              </a:rPr>
              <a:t>hez</a:t>
            </a:r>
            <a:endParaRPr lang="en-US" sz="1600" dirty="0"/>
          </a:p>
        </p:txBody>
      </p:sp>
      <p:sp>
        <p:nvSpPr>
          <p:cNvPr id="21" name="Üvegkártya"/>
          <p:cNvSpPr/>
          <p:nvPr/>
        </p:nvSpPr>
        <p:spPr>
          <a:xfrm>
            <a:off x="8275320" y="3200400"/>
            <a:ext cx="3276295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Ikon háttér"/>
          <p:cNvSpPr/>
          <p:nvPr/>
        </p:nvSpPr>
        <p:spPr>
          <a:xfrm>
            <a:off x="8494776" y="3419856"/>
            <a:ext cx="566928" cy="566928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3" name="Image 1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508" y="3561588"/>
            <a:ext cx="283464" cy="28346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281160" y="3401568"/>
            <a:ext cx="2050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Admin jogosultság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9281160" y="3767328"/>
            <a:ext cx="20509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users.is_admin mező mutatja, ki admin.</a:t>
            </a:r>
            <a:endParaRPr lang="en-US" sz="1400" dirty="0"/>
          </a:p>
        </p:txBody>
      </p:sp>
      <p:sp>
        <p:nvSpPr>
          <p:cNvPr id="26" name="Üvegkártya"/>
          <p:cNvSpPr/>
          <p:nvPr/>
        </p:nvSpPr>
        <p:spPr>
          <a:xfrm>
            <a:off x="8275320" y="4754880"/>
            <a:ext cx="3276295" cy="1371600"/>
          </a:xfrm>
          <a:prstGeom prst="roundRect">
            <a:avLst>
              <a:gd name="adj" fmla="val 16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Ikon háttér"/>
          <p:cNvSpPr/>
          <p:nvPr/>
        </p:nvSpPr>
        <p:spPr>
          <a:xfrm>
            <a:off x="8494776" y="4974336"/>
            <a:ext cx="566928" cy="566928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bg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8" name="Image 2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5116068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9281160" y="4956048"/>
            <a:ext cx="2050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Egy dal, több lista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281160" y="5321808"/>
            <a:ext cx="20509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playlist_songs kapcsolótábla köti össze őket.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TERV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Következő lépések</a:t>
            </a:r>
            <a:endParaRPr lang="en-US" sz="3800" dirty="0"/>
          </a:p>
        </p:txBody>
      </p:sp>
      <p:sp>
        <p:nvSpPr>
          <p:cNvPr id="4" name="Idővonal"/>
          <p:cNvSpPr/>
          <p:nvPr/>
        </p:nvSpPr>
        <p:spPr>
          <a:xfrm>
            <a:off x="1911096" y="2011680"/>
            <a:ext cx="8369503" cy="0"/>
          </a:xfrm>
          <a:prstGeom prst="line">
            <a:avLst/>
          </a:prstGeom>
          <a:noFill/>
          <a:ln w="1905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Lépés szám"/>
          <p:cNvSpPr/>
          <p:nvPr/>
        </p:nvSpPr>
        <p:spPr>
          <a:xfrm>
            <a:off x="1591056" y="1691640"/>
            <a:ext cx="640080" cy="64008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bg1">
                <a:alpha val="5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159105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Üvegkártya"/>
          <p:cNvSpPr/>
          <p:nvPr/>
        </p:nvSpPr>
        <p:spPr>
          <a:xfrm>
            <a:off x="640080" y="2606040"/>
            <a:ext cx="2542032" cy="3474720"/>
          </a:xfrm>
          <a:prstGeom prst="roundRect">
            <a:avLst>
              <a:gd name="adj" fmla="val 1007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 txBox="1"/>
          <p:nvPr/>
        </p:nvSpPr>
        <p:spPr>
          <a:xfrm>
            <a:off x="896112" y="28346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Liquid glass a kódban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 koncepció üveg-hatású kinézetét átvezetjük a CSS-be: áttetsző panelek, elmosott háttér, lebegő lejátszó.</a:t>
            </a:r>
            <a:endParaRPr lang="en-US" sz="1600" dirty="0"/>
          </a:p>
        </p:txBody>
      </p:sp>
      <p:sp>
        <p:nvSpPr>
          <p:cNvPr id="10" name="Címke"/>
          <p:cNvSpPr/>
          <p:nvPr/>
        </p:nvSpPr>
        <p:spPr>
          <a:xfrm>
            <a:off x="896112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 txBox="1"/>
          <p:nvPr/>
        </p:nvSpPr>
        <p:spPr>
          <a:xfrm>
            <a:off x="896112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KINÉZET</a:t>
            </a:r>
            <a:endParaRPr lang="en-US" sz="1100" dirty="0"/>
          </a:p>
        </p:txBody>
      </p:sp>
      <p:sp>
        <p:nvSpPr>
          <p:cNvPr id="12" name="Lépés szám"/>
          <p:cNvSpPr/>
          <p:nvPr/>
        </p:nvSpPr>
        <p:spPr>
          <a:xfrm>
            <a:off x="4380890" y="1691640"/>
            <a:ext cx="640080" cy="640080"/>
          </a:xfrm>
          <a:prstGeom prst="ellipse">
            <a:avLst/>
          </a:prstGeom>
          <a:solidFill>
            <a:schemeClr val="accent2">
              <a:alpha val="85000"/>
            </a:schemeClr>
          </a:solidFill>
          <a:ln w="12700">
            <a:solidFill>
              <a:schemeClr val="bg1">
                <a:alpha val="5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 txBox="1"/>
          <p:nvPr/>
        </p:nvSpPr>
        <p:spPr>
          <a:xfrm>
            <a:off x="438089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Üvegkártya"/>
          <p:cNvSpPr/>
          <p:nvPr/>
        </p:nvSpPr>
        <p:spPr>
          <a:xfrm>
            <a:off x="3429914" y="2606040"/>
            <a:ext cx="2542032" cy="3474720"/>
          </a:xfrm>
          <a:prstGeom prst="roundRect">
            <a:avLst>
              <a:gd name="adj" fmla="val 1007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 txBox="1"/>
          <p:nvPr/>
        </p:nvSpPr>
        <p:spPr>
          <a:xfrm>
            <a:off x="3685946" y="28346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Valódi adatok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85946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 kódban tárolt demo adatok helyett az adatbázisból jönnek a dalok, listák és előadók.</a:t>
            </a:r>
            <a:endParaRPr lang="en-US" sz="1600" dirty="0"/>
          </a:p>
        </p:txBody>
      </p:sp>
      <p:sp>
        <p:nvSpPr>
          <p:cNvPr id="17" name="Címke"/>
          <p:cNvSpPr/>
          <p:nvPr/>
        </p:nvSpPr>
        <p:spPr>
          <a:xfrm>
            <a:off x="3685946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 txBox="1"/>
          <p:nvPr/>
        </p:nvSpPr>
        <p:spPr>
          <a:xfrm>
            <a:off x="3685946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ADATBÁZIS</a:t>
            </a:r>
            <a:endParaRPr lang="en-US" sz="1100" dirty="0"/>
          </a:p>
        </p:txBody>
      </p:sp>
      <p:sp>
        <p:nvSpPr>
          <p:cNvPr id="19" name="Lépés szám"/>
          <p:cNvSpPr/>
          <p:nvPr/>
        </p:nvSpPr>
        <p:spPr>
          <a:xfrm>
            <a:off x="7170725" y="1691640"/>
            <a:ext cx="640080" cy="640080"/>
          </a:xfrm>
          <a:prstGeom prst="ellipse">
            <a:avLst/>
          </a:prstGeom>
          <a:solidFill>
            <a:schemeClr val="accent3">
              <a:alpha val="85000"/>
            </a:schemeClr>
          </a:solidFill>
          <a:ln w="12700">
            <a:solidFill>
              <a:schemeClr val="bg1">
                <a:alpha val="5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 txBox="1"/>
          <p:nvPr/>
        </p:nvSpPr>
        <p:spPr>
          <a:xfrm>
            <a:off x="7170725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Üvegkártya"/>
          <p:cNvSpPr/>
          <p:nvPr/>
        </p:nvSpPr>
        <p:spPr>
          <a:xfrm>
            <a:off x="6219749" y="2606040"/>
            <a:ext cx="2542032" cy="3474720"/>
          </a:xfrm>
          <a:prstGeom prst="roundRect">
            <a:avLst>
              <a:gd name="adj" fmla="val 1007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 txBox="1"/>
          <p:nvPr/>
        </p:nvSpPr>
        <p:spPr>
          <a:xfrm>
            <a:off x="6475781" y="28346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Új oldalak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75781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Felfedezés, előadó- és albumoldal, ahogy a Sprint 2 tervben szerepelt.</a:t>
            </a:r>
            <a:endParaRPr lang="en-US" sz="1600" dirty="0"/>
          </a:p>
        </p:txBody>
      </p:sp>
      <p:sp>
        <p:nvSpPr>
          <p:cNvPr id="24" name="Címke"/>
          <p:cNvSpPr/>
          <p:nvPr/>
        </p:nvSpPr>
        <p:spPr>
          <a:xfrm>
            <a:off x="6475781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 txBox="1"/>
          <p:nvPr/>
        </p:nvSpPr>
        <p:spPr>
          <a:xfrm>
            <a:off x="6475781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OLDALAK</a:t>
            </a:r>
            <a:endParaRPr lang="en-US" sz="1100" dirty="0"/>
          </a:p>
        </p:txBody>
      </p:sp>
      <p:sp>
        <p:nvSpPr>
          <p:cNvPr id="26" name="Lépés szám"/>
          <p:cNvSpPr/>
          <p:nvPr/>
        </p:nvSpPr>
        <p:spPr>
          <a:xfrm>
            <a:off x="9960559" y="1691640"/>
            <a:ext cx="640080" cy="640080"/>
          </a:xfrm>
          <a:prstGeom prst="ellipse">
            <a:avLst/>
          </a:prstGeom>
          <a:solidFill>
            <a:schemeClr val="accent4">
              <a:alpha val="85000"/>
            </a:schemeClr>
          </a:solidFill>
          <a:ln w="12700">
            <a:solidFill>
              <a:schemeClr val="bg1">
                <a:alpha val="5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 txBox="1"/>
          <p:nvPr/>
        </p:nvSpPr>
        <p:spPr>
          <a:xfrm>
            <a:off x="9960559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Üvegkártya"/>
          <p:cNvSpPr/>
          <p:nvPr/>
        </p:nvSpPr>
        <p:spPr>
          <a:xfrm>
            <a:off x="9009583" y="2606040"/>
            <a:ext cx="2542032" cy="3474720"/>
          </a:xfrm>
          <a:prstGeom prst="roundRect">
            <a:avLst>
              <a:gd name="adj" fmla="val 1007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 txBox="1"/>
          <p:nvPr/>
        </p:nvSpPr>
        <p:spPr>
          <a:xfrm>
            <a:off x="9265615" y="28346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Profil és admin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265615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Profil és beállítások rövid magyarázatokkal, valamint admin felület a zenék és userek kezeléséhez.</a:t>
            </a:r>
            <a:endParaRPr lang="en-US" sz="1600" dirty="0"/>
          </a:p>
        </p:txBody>
      </p:sp>
      <p:sp>
        <p:nvSpPr>
          <p:cNvPr id="31" name="Címke"/>
          <p:cNvSpPr/>
          <p:nvPr/>
        </p:nvSpPr>
        <p:spPr>
          <a:xfrm>
            <a:off x="9265615" y="548640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 txBox="1"/>
          <p:nvPr/>
        </p:nvSpPr>
        <p:spPr>
          <a:xfrm>
            <a:off x="9265615" y="5486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FUNKCIÓK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ró panel"/>
          <p:cNvSpPr/>
          <p:nvPr/>
        </p:nvSpPr>
        <p:spPr>
          <a:xfrm>
            <a:off x="2651760" y="914400"/>
            <a:ext cx="6885432" cy="5029200"/>
          </a:xfrm>
          <a:prstGeom prst="roundRect">
            <a:avLst>
              <a:gd name="adj" fmla="val 8182"/>
            </a:avLst>
          </a:prstGeom>
          <a:solidFill>
            <a:schemeClr val="bg1">
              <a:alpha val="13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  <a:effectLst>
            <a:outerShdw blurRad="2540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3" name="Image 0" descr="VAWES log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18872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2651760" y="3657600"/>
            <a:ext cx="6885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Köszönjük a figyelmet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2651760" y="4526280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Kérdések?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5166360"/>
            <a:ext cx="6885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Hegedűs Marcell  •  Babák Ádám  •  Barna Ricsi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WES Liquid Glass">
  <a:themeElements>
    <a:clrScheme name="VAWES Liquid Glass">
      <a:dk1>
        <a:srgbClr val="0B0B1A"/>
      </a:dk1>
      <a:lt1>
        <a:srgbClr val="FFFFFF"/>
      </a:lt1>
      <a:dk2>
        <a:srgbClr val="1B1740"/>
      </a:dk2>
      <a:lt2>
        <a:srgbClr val="CFCBEE"/>
      </a:lt2>
      <a:accent1>
        <a:srgbClr val="7C5CFF"/>
      </a:accent1>
      <a:accent2>
        <a:srgbClr val="2DD4FF"/>
      </a:accent2>
      <a:accent3>
        <a:srgbClr val="FF4FD8"/>
      </a:accent3>
      <a:accent4>
        <a:srgbClr val="FF8C5A"/>
      </a:accent4>
      <a:accent5>
        <a:srgbClr val="5FD35F"/>
      </a:accent5>
      <a:accent6>
        <a:srgbClr val="FFCF4A"/>
      </a:accent6>
      <a:hlink>
        <a:srgbClr val="2DD4FF"/>
      </a:hlink>
      <a:folHlink>
        <a:srgbClr val="FF4FD8"/>
      </a:folHlink>
    </a:clrScheme>
    <a:fontScheme name="VAWES Liquid Gla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1269</Words>
  <Application>Microsoft Office PowerPoint</Application>
  <PresentationFormat>Szélesvásznú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Arial</vt:lpstr>
      <vt:lpstr>Calibri</vt:lpstr>
      <vt:lpstr>VAWES Liquid Glass</vt:lpstr>
      <vt:lpstr>VAWES</vt:lpstr>
      <vt:lpstr>A projekt dióhéjban</vt:lpstr>
      <vt:lpstr>Hol tartunk most?</vt:lpstr>
      <vt:lpstr>Terv és megvalósítás</vt:lpstr>
      <vt:lpstr>Lejátszó és lista nézet</vt:lpstr>
      <vt:lpstr>Keresés</vt:lpstr>
      <vt:lpstr>Könyvtár</vt:lpstr>
      <vt:lpstr>A koncepciótól a kódig</vt:lpstr>
      <vt:lpstr>Az adatbázis felépítése</vt:lpstr>
      <vt:lpstr>Következő lépések</vt:lpstr>
      <vt:lpstr>Köszönjük a figyelmet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VAWES – haladási beszámoló</dc:title>
  <dc:subject>Szoftverfejlesztés projekt</dc:subject>
  <dc:creator>VAWES csapat</dc:creator>
  <cp:lastModifiedBy>O365 felhasználó</cp:lastModifiedBy>
  <cp:revision>3</cp:revision>
  <dcterms:created xsi:type="dcterms:W3CDTF">2026-10-18T12:52:41Z</dcterms:created>
  <dcterms:modified xsi:type="dcterms:W3CDTF">2026-10-18T12:54:57Z</dcterms:modified>
</cp:coreProperties>
</file>